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37364-43B8-418D-B1DD-028894390F4A}" authorId="{A67ECB7E-D1EC-79EA-8521-C9AEE098F819}" created="2026-08-14T14:31:36.1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6"/>
      <ac:spMk id="4" creationId="{C5495CDE-E30B-FA84-8CC2-0FA70A34D669}"/>
      <ac:txMk cp="0" len="129">
        <ac:context len="130" hash="1935894723"/>
      </ac:txMk>
    </ac:txMkLst>
    <p188:pos x="7893156" y="428341"/>
    <p188:txBody>
      <a:bodyPr/>
      <a:lstStyle/>
      <a:p>
        <a:r>
          <a:rPr lang="en-IN"/>
          <a:t>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119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3EBB-572C-C0E2-999E-66A04ADA0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6064A-556C-3935-A97B-0973837F8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69ED6-3613-743B-01A7-064767E1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9803-B442-4F6D-9A64-45800C746639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107B5-9CAF-088E-FB70-40A7F873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FCCA-3008-B60B-C627-CAA1B48C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F789-6116-4FF5-9C38-A7CBDA9AA89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DDD7F-04C0-F4C6-A97B-6D552CB8CB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6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62203-9D21-85CB-5880-134F376C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D2040-ED2B-5614-FD30-30534D9D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314AE-B0D0-BBD7-9F1E-8CC05117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6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F1B4DFDC-1C11-4250-A087-371113061292}" type="datetime1">
              <a:rPr lang="en-IN" smtClean="0"/>
              <a:t>25-09-2026</a:t>
            </a:fld>
            <a:endParaRPr lang="en-US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DAE                     BHUSARAPU HEMA NAGAMANI, Asst Professor, IT&amp;DS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830" r:id="rId2"/>
    <p:sldLayoutId id="2147483831" r:id="rId3"/>
    <p:sldLayoutId id="2147483666" r:id="rId4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hyperlink" Target="mailto:sathwik@gmail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685800" y="1571612"/>
            <a:ext cx="10696612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b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kumimoji="0" lang="en-IN" sz="4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8186004" y="4803022"/>
            <a:ext cx="3744416" cy="33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b="1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P.Keerthana</a:t>
            </a:r>
            <a:r>
              <a:rPr lang="en-IN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1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Data Science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anose="020B0602020104020603" pitchFamily="34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7666" y="2374129"/>
            <a:ext cx="9072880" cy="983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600" b="1" dirty="0">
                <a:solidFill>
                  <a:srgbClr val="191919"/>
                </a:solidFill>
                <a:latin typeface="Aptos"/>
              </a:rPr>
              <a:t>Online Shopping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" y="4771215"/>
            <a:ext cx="4845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25B11DS213-K.G.V.S.SRI RAM</a:t>
            </a:r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(Team Leader)</a:t>
            </a:r>
          </a:p>
          <a:p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25B11DS485-R.M.GANAPATHI (Team Member)</a:t>
            </a:r>
          </a:p>
          <a:p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26B21DS336-M.SATHWIK (Team Member)</a:t>
            </a:r>
          </a:p>
          <a:p>
            <a: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25B11DS029-A.THARUN (Team Member)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2400" y="4571160"/>
            <a:ext cx="196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2390" y="3358894"/>
            <a:ext cx="3313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91919"/>
                </a:solidFill>
                <a:latin typeface="Aptos"/>
              </a:rPr>
              <a:t>Cornerstone (Project - 6)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2390" y="1772816"/>
            <a:ext cx="3841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GB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</a:t>
            </a: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2608"/>
            <a:ext cx="2313432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0" y="6144768"/>
            <a:ext cx="82296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8C8C8C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3025211" y="553847"/>
            <a:ext cx="6851015" cy="1165225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600" b="1" dirty="0">
                <a:solidFill>
                  <a:srgbClr val="191919"/>
                </a:solidFill>
                <a:latin typeface="Aptos"/>
              </a:rPr>
              <a:t>DATABASE IMPLEMENTATION OVERVIEW</a:t>
            </a:r>
            <a:endParaRPr lang="en-US" sz="1600" b="1" dirty="0"/>
          </a:p>
        </p:txBody>
      </p:sp>
      <p:sp>
        <p:nvSpPr>
          <p:cNvPr id="9" name="Text 6"/>
          <p:cNvSpPr/>
          <p:nvPr/>
        </p:nvSpPr>
        <p:spPr>
          <a:xfrm>
            <a:off x="685800" y="1653540"/>
            <a:ext cx="10820400" cy="43815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5000"/>
              </a:lnSpc>
              <a:spcAft>
                <a:spcPts val="800"/>
              </a:spcAft>
              <a:buSzTx/>
              <a:buChar char="•"/>
            </a:pPr>
            <a:endParaRPr lang="en-US" sz="1600"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10905229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• The Online Shopping Management System database was implemented to manage customer, product, category, order, </a:t>
            </a:r>
            <a:endParaRPr lang="en-US" sz="1600" dirty="0"/>
          </a:p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order item, and payment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06032"/>
            <a:ext cx="582316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• Database and tables were created with appropriate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380072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• Sample data was inserted into all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19856"/>
            <a:ext cx="458337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• DDL, DML, and DQL operations were performed.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86784"/>
            <a:ext cx="352500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/>
              <a:t>• CRUD operations were implemented.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553712"/>
            <a:ext cx="613014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/>
              <a:t>• SQL queries using Joins and Aggregate Functions were executed.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20640"/>
            <a:ext cx="505375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/>
              <a:t>• Views were created for retrieving required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687568"/>
            <a:ext cx="677589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40">
                <a:solidFill>
                  <a:srgbClr val="191919"/>
                </a:solidFill>
                <a:latin typeface="Aptos"/>
              </a:defRPr>
            </a:pPr>
            <a:r>
              <a:rPr sz="1600" dirty="0"/>
              <a:t>• Data integrity and validation were maintained using database constraints.</a:t>
            </a:r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2313432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0" y="6144768"/>
            <a:ext cx="82296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C8C8C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822960" y="370840"/>
            <a:ext cx="10820401" cy="1092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600" b="1" dirty="0">
                <a:solidFill>
                  <a:srgbClr val="191919"/>
                </a:solidFill>
              </a:rPr>
              <a:t>DATABASE &amp; TABLE CREATION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120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91919"/>
                </a:solidFill>
                <a:latin typeface="Aptos"/>
              </a:rPr>
              <a:t>Database Name: </a:t>
            </a:r>
            <a:r>
              <a:rPr sz="2000" b="1" dirty="0" err="1">
                <a:solidFill>
                  <a:srgbClr val="191919"/>
                </a:solidFill>
                <a:latin typeface="Aptos"/>
              </a:rPr>
              <a:t>OnlineShopping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120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91919"/>
                </a:solidFill>
                <a:latin typeface="Aptos"/>
              </a:rPr>
              <a:t>Tables Created: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CUSTOMER – Customer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5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CATEGORY – Product category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72383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PRODUCT – Product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02151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ORDER – Customer order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19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ORDER_ITEM – Products included in each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61687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PAYMENT – Payment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120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91919"/>
                </a:solidFill>
                <a:latin typeface="Aptos"/>
              </a:rPr>
              <a:t>Constraints Used: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Primary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6869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Foreign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NOT NULL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4535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UNIQUE</a:t>
            </a:r>
          </a:p>
        </p:txBody>
      </p:sp>
      <p:pic>
        <p:nvPicPr>
          <p:cNvPr id="21" name="Picture 20" descr="10000971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508760"/>
            <a:ext cx="5257800" cy="2121408"/>
          </a:xfrm>
          <a:prstGeom prst="rect">
            <a:avLst/>
          </a:prstGeom>
        </p:spPr>
      </p:pic>
      <p:pic>
        <p:nvPicPr>
          <p:cNvPr id="22" name="Picture 21" descr="100009709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822191"/>
            <a:ext cx="5257800" cy="241401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2608"/>
            <a:ext cx="2313432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0" y="6144768"/>
            <a:ext cx="822960" cy="45720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8C8C8C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4579620" y="624840"/>
            <a:ext cx="7597140" cy="594360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600" b="1">
                <a:solidFill>
                  <a:srgbClr val="191919"/>
                </a:solidFill>
              </a:rPr>
              <a:t>SAMPLE DATA INSERTION</a:t>
            </a:r>
            <a:endParaRPr lang="en-US" sz="3600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486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0">
                <a:solidFill>
                  <a:srgbClr val="191919"/>
                </a:solidFill>
                <a:latin typeface="Aptos"/>
              </a:rPr>
              <a:t>Sample data was inserted into all tables to test and validate the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Customer Data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163123"/>
              </p:ext>
            </p:extLst>
          </p:nvPr>
        </p:nvGraphicFramePr>
        <p:xfrm>
          <a:off x="594360" y="2404872"/>
          <a:ext cx="548640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191919"/>
                          </a:solidFill>
                          <a:latin typeface="Aptos"/>
                        </a:rPr>
                        <a:t>Customer_ID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191919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80" b="1">
                          <a:solidFill>
                            <a:srgbClr val="191919"/>
                          </a:solidFill>
                          <a:latin typeface="Aptos"/>
                        </a:rPr>
                        <a:t>Email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80" b="0">
                          <a:solidFill>
                            <a:srgbClr val="191919"/>
                          </a:solidFill>
                          <a:latin typeface="Aptos"/>
                        </a:rPr>
                        <a:t>C101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80" b="0" dirty="0" err="1">
                          <a:solidFill>
                            <a:srgbClr val="191919"/>
                          </a:solidFill>
                          <a:latin typeface="Aptos"/>
                        </a:rPr>
                        <a:t>sathwik</a:t>
                      </a:r>
                      <a:endParaRPr sz="1180" b="0" dirty="0">
                        <a:solidFill>
                          <a:srgbClr val="191919"/>
                        </a:solidFill>
                        <a:latin typeface="Aptos"/>
                      </a:endParaRP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80" b="0" dirty="0" err="1">
                          <a:solidFill>
                            <a:srgbClr val="191919"/>
                          </a:solidFill>
                          <a:latin typeface="Aptos"/>
                          <a:hlinkClick r:id="rId4"/>
                        </a:rPr>
                        <a:t>sathwik</a:t>
                      </a:r>
                      <a:r>
                        <a:rPr sz="1180" b="0" dirty="0">
                          <a:solidFill>
                            <a:srgbClr val="191919"/>
                          </a:solidFill>
                          <a:latin typeface="Aptos"/>
                          <a:hlinkClick r:id="rId4"/>
                        </a:rPr>
                        <a:t>@gmail.com</a:t>
                      </a:r>
                      <a:endParaRPr sz="1180" b="0" dirty="0">
                        <a:solidFill>
                          <a:srgbClr val="191919"/>
                        </a:solidFill>
                        <a:latin typeface="Aptos"/>
                      </a:endParaRP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80" b="0">
                          <a:solidFill>
                            <a:srgbClr val="191919"/>
                          </a:solidFill>
                          <a:latin typeface="Aptos"/>
                        </a:rPr>
                        <a:t>C102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80" b="0" dirty="0" err="1">
                          <a:solidFill>
                            <a:srgbClr val="191919"/>
                          </a:solidFill>
                          <a:latin typeface="Aptos"/>
                        </a:rPr>
                        <a:t>harisha</a:t>
                      </a:r>
                      <a:endParaRPr sz="1180" b="0" dirty="0">
                        <a:solidFill>
                          <a:srgbClr val="191919"/>
                        </a:solidFill>
                        <a:latin typeface="Aptos"/>
                      </a:endParaRP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80" b="0" dirty="0" err="1">
                          <a:solidFill>
                            <a:srgbClr val="191919"/>
                          </a:solidFill>
                          <a:latin typeface="Aptos"/>
                        </a:rPr>
                        <a:t>harisha</a:t>
                      </a:r>
                      <a:r>
                        <a:rPr sz="1180" b="0" dirty="0">
                          <a:solidFill>
                            <a:srgbClr val="191919"/>
                          </a:solidFill>
                          <a:latin typeface="Aptos"/>
                        </a:rPr>
                        <a:t>@gmail.com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" y="3639312"/>
            <a:ext cx="5212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Product Data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" y="3968496"/>
          <a:ext cx="548640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91919"/>
                          </a:solidFill>
                          <a:latin typeface="Aptos"/>
                        </a:rPr>
                        <a:t>Product_ID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91919"/>
                          </a:solidFill>
                          <a:latin typeface="Aptos"/>
                        </a:rPr>
                        <a:t>Product_Name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91919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191919"/>
                          </a:solidFill>
                          <a:latin typeface="Aptos"/>
                        </a:rPr>
                        <a:t>Stock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P101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Smart Watch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2499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25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P102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Headphones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1499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91919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94360" y="5285232"/>
            <a:ext cx="5486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91919"/>
                </a:solidFill>
                <a:latin typeface="Aptos"/>
              </a:rPr>
              <a:t>Data inserted into: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96128"/>
            <a:ext cx="5394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91919"/>
                </a:solidFill>
                <a:latin typeface="Aptos"/>
              </a:rPr>
              <a:t>CATEGORY • ORDER • ORDER_ITEM • PAYMENT</a:t>
            </a:r>
          </a:p>
        </p:txBody>
      </p:sp>
      <p:pic>
        <p:nvPicPr>
          <p:cNvPr id="15" name="Picture 14" descr="10000971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53312"/>
            <a:ext cx="3886200" cy="5486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1F2937"/>
                </a:solidFill>
                <a:latin typeface="Aptos"/>
              </a:rPr>
              <a:t>DDL, DML &amp; DQL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75" y="1234440"/>
            <a:ext cx="3884802" cy="35900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435608"/>
            <a:ext cx="3255264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463EB"/>
                </a:solidFill>
                <a:latin typeface="Aptos"/>
              </a:rPr>
              <a:t>DDL – Data Definition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194560"/>
            <a:ext cx="3521349" cy="430887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• CREATE – Creates database objects such</a:t>
            </a:r>
            <a:endParaRPr lang="en-US" dirty="0"/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 as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127248"/>
            <a:ext cx="3273552" cy="777240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• ALTER – Modifies the structure of a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354" y="1234439"/>
            <a:ext cx="3551206" cy="35197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53128" y="1435608"/>
            <a:ext cx="3255264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68252"/>
                </a:solidFill>
                <a:latin typeface="Aptos"/>
              </a:rPr>
              <a:t>DML – Data Manipulation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194560"/>
            <a:ext cx="3273552" cy="777240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• INSERT – Adds new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3127248"/>
            <a:ext cx="3273552" cy="777240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• UPDATE – Modifies existing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059936"/>
            <a:ext cx="3273552" cy="777240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• DELETE – Removes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7926" y="1211900"/>
            <a:ext cx="3657600" cy="351979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8" y="1435608"/>
            <a:ext cx="3255264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D6751E"/>
                </a:solidFill>
                <a:latin typeface="Aptos"/>
              </a:rPr>
              <a:t>DQL – Data Query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8" y="2194560"/>
            <a:ext cx="2903039" cy="430887"/>
          </a:xfrm>
          <a:prstGeom prst="rect">
            <a:avLst/>
          </a:prstGeom>
          <a:noFill/>
        </p:spPr>
        <p:txBody>
          <a:bodyPr wrap="none" lIns="36576" tIns="0" rIns="0" bIns="0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• SELECT – Retrieves data from the</a:t>
            </a:r>
            <a:endParaRPr lang="en-US" dirty="0"/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rPr dirty="0"/>
              <a:t> database.</a:t>
            </a:r>
          </a:p>
        </p:txBody>
      </p:sp>
      <p:pic>
        <p:nvPicPr>
          <p:cNvPr id="15" name="Picture 14" descr="sql_operations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804" y="4982198"/>
            <a:ext cx="6571716" cy="1756930"/>
          </a:xfrm>
          <a:prstGeom prst="rect">
            <a:avLst/>
          </a:prstGeom>
        </p:spPr>
      </p:pic>
      <p:pic>
        <p:nvPicPr>
          <p:cNvPr id="16" name="Image 0" descr="/home/claud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70" y="205740"/>
            <a:ext cx="2313432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F2937"/>
                </a:solidFill>
                <a:latin typeface="Aptos"/>
              </a:rPr>
              <a:t>CRUD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4B5563"/>
                </a:solidFill>
                <a:latin typeface="Aptos"/>
              </a:rPr>
              <a:t>CRUD operations were implemented to manage records in the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783080"/>
            <a:ext cx="9966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98448" y="1947672"/>
            <a:ext cx="621792" cy="621792"/>
          </a:xfrm>
          <a:prstGeom prst="ellipse">
            <a:avLst/>
          </a:prstGeom>
          <a:solidFill>
            <a:srgbClr val="2463EB"/>
          </a:solidFill>
          <a:ln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1947672"/>
            <a:ext cx="621792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929384"/>
            <a:ext cx="19202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463EB"/>
                </a:solidFill>
                <a:latin typeface="Aptos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67712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Adds new records to the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862072"/>
            <a:ext cx="9966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98448" y="3026664"/>
            <a:ext cx="621792" cy="621792"/>
          </a:xfrm>
          <a:prstGeom prst="ellipse">
            <a:avLst/>
          </a:prstGeom>
          <a:solidFill>
            <a:srgbClr val="168252"/>
          </a:solidFill>
          <a:ln>
            <a:solidFill>
              <a:srgbClr val="168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026664"/>
            <a:ext cx="621792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008376"/>
            <a:ext cx="19202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68252"/>
                </a:solidFill>
                <a:latin typeface="Aptos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346704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Retrieves existing records from the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941064"/>
            <a:ext cx="9966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98448" y="4105656"/>
            <a:ext cx="621792" cy="621792"/>
          </a:xfrm>
          <a:prstGeom prst="ellipse">
            <a:avLst/>
          </a:prstGeom>
          <a:solidFill>
            <a:srgbClr val="D6751E"/>
          </a:solidFill>
          <a:ln>
            <a:solidFill>
              <a:srgbClr val="D67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4105656"/>
            <a:ext cx="621792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087368"/>
            <a:ext cx="19202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D6751E"/>
                </a:solidFill>
                <a:latin typeface="Aptos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425696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Modifies existing records.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020056"/>
            <a:ext cx="99669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98448" y="5184648"/>
            <a:ext cx="621792" cy="621792"/>
          </a:xfrm>
          <a:prstGeom prst="ellipse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98448" y="5184648"/>
            <a:ext cx="621792" cy="6217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166360"/>
            <a:ext cx="192024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BE3737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04688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Removes records from the database.</a:t>
            </a:r>
          </a:p>
        </p:txBody>
      </p:sp>
      <p:pic>
        <p:nvPicPr>
          <p:cNvPr id="24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9345"/>
            <a:ext cx="2313432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0" y="6172200"/>
            <a:ext cx="502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Apto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511466"/>
            <a:ext cx="658368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91919"/>
                </a:solidFill>
                <a:latin typeface="Aptos"/>
              </a:rPr>
              <a:t>JOINS &amp; AGGREGATE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029200" cy="1874519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C58A0"/>
                </a:solidFill>
                <a:latin typeface="Aptos"/>
              </a:rPr>
              <a:t>Joins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8939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191919"/>
                </a:solidFill>
                <a:latin typeface="Aptos"/>
              </a:rPr>
              <a:t>Joins are used to retrieve related information from </a:t>
            </a:r>
            <a:endParaRPr lang="en-US" sz="1600" b="0" dirty="0">
              <a:solidFill>
                <a:srgbClr val="191919"/>
              </a:solidFill>
              <a:latin typeface="Aptos"/>
            </a:endParaRPr>
          </a:p>
          <a:p>
            <a:pPr algn="l"/>
            <a:r>
              <a:rPr sz="1600" b="0" dirty="0">
                <a:solidFill>
                  <a:srgbClr val="191919"/>
                </a:solidFill>
                <a:latin typeface="Aptos"/>
              </a:rPr>
              <a:t>multiple tables.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5029200" cy="22402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75887"/>
            <a:ext cx="320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86921"/>
                </a:solidFill>
                <a:latin typeface="Aptos"/>
              </a:rPr>
              <a:t>Aggregate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33087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• COUNT() – Counts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983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• SUM() – Calculates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79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• AVG() – Calculates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65775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• MIN() – Finds minimum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1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91919"/>
                </a:solidFill>
                <a:latin typeface="Aptos"/>
              </a:rPr>
              <a:t>• MAX() – Finds maximum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325880"/>
            <a:ext cx="52120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000097133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362456"/>
            <a:ext cx="5138928" cy="17556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89320" y="3456432"/>
            <a:ext cx="52120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1000097134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3493008"/>
            <a:ext cx="5138928" cy="1755648"/>
          </a:xfrm>
          <a:prstGeom prst="rect">
            <a:avLst/>
          </a:prstGeom>
        </p:spPr>
      </p:pic>
      <p:pic>
        <p:nvPicPr>
          <p:cNvPr id="18" name="Image 0" descr="/home/claude/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91440"/>
            <a:ext cx="23134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0" y="6172200"/>
            <a:ext cx="502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Aptos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475488"/>
            <a:ext cx="69494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191919"/>
                </a:solidFill>
                <a:latin typeface="Aptos"/>
              </a:rPr>
              <a:t>VIEWS, DATA INTEGRITY &amp;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1018520" cy="150876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371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C58A0"/>
                </a:solidFill>
                <a:latin typeface="Aptos"/>
              </a:rPr>
              <a:t>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103784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>
                <a:solidFill>
                  <a:srgbClr val="191919"/>
                </a:solidFill>
                <a:latin typeface="Aptos"/>
              </a:rPr>
              <a:t>A view is a virtual table created from one or more tables to simplify frequently used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07792"/>
            <a:ext cx="5394960" cy="2697480"/>
          </a:xfrm>
          <a:prstGeom prst="roundRect">
            <a:avLst/>
          </a:prstGeom>
          <a:solidFill>
            <a:srgbClr val="FAFAFA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11887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921"/>
                </a:solidFill>
                <a:latin typeface="Aptos"/>
              </a:rPr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4617720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91919"/>
                </a:solidFill>
                <a:latin typeface="Aptos"/>
              </a:rPr>
              <a:t>CREATE VIEW CustomerOrders AS
SELECT Customer_ID, Order_ID, Order_Date
FROM ORDERS;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07792"/>
            <a:ext cx="5394960" cy="269748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154680"/>
            <a:ext cx="23774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C58A0"/>
                </a:solidFill>
                <a:latin typeface="Aptos"/>
              </a:rPr>
              <a:t>Data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566160"/>
            <a:ext cx="47548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Primary Keys ensure unique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04487"/>
            <a:ext cx="47548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Foreign Keys maintain relationships between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42816"/>
            <a:ext cx="47548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NOT NULL ensures required fields are not empty.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81144"/>
            <a:ext cx="47548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20" b="0">
                <a:solidFill>
                  <a:srgbClr val="191919"/>
                </a:solidFill>
                <a:latin typeface="Aptos"/>
              </a:rPr>
              <a:t>• UNIQUE prevents duplicate values where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921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02352"/>
            <a:ext cx="47548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191919"/>
                </a:solidFill>
                <a:latin typeface="Aptos"/>
              </a:rPr>
              <a:t>• Appropriate data types are used.
• Database constraints help prevent invalid data.</a:t>
            </a:r>
          </a:p>
        </p:txBody>
      </p:sp>
      <p:pic>
        <p:nvPicPr>
          <p:cNvPr id="18" name="Image 0" descr="/home/claude/asset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81655"/>
            <a:ext cx="2313432" cy="914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0" y="6172200"/>
            <a:ext cx="5029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505050"/>
                </a:solidFill>
                <a:latin typeface="Aptos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475488"/>
            <a:ext cx="78409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191919"/>
                </a:solidFill>
                <a:latin typeface="Aptos"/>
              </a:rPr>
              <a:t>SQL RESULTS &amp; DATABASE SCREENSHOTS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074920" cy="52578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E0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41148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C58A0"/>
                </a:solidFill>
                <a:latin typeface="Aptos"/>
              </a:rPr>
              <a:t>Implementation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Database and tables were successfully created.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Sample data was inserted into all 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DDL, DML, and DQL operations were performed.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CRUD operations were successfully implemented.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Joins and Aggregate Functions were executed.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48056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Views were created and 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983480"/>
            <a:ext cx="438912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60" b="0">
                <a:solidFill>
                  <a:srgbClr val="191919"/>
                </a:solidFill>
                <a:latin typeface="Aptos"/>
              </a:rPr>
              <a:t>• Data integrity and validation were maintained.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532120"/>
            <a:ext cx="29260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6921"/>
                </a:solidFill>
                <a:latin typeface="Aptos"/>
              </a:rPr>
              <a:t>Documentation Includes: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833872"/>
            <a:ext cx="457200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80" b="0" dirty="0">
                <a:solidFill>
                  <a:srgbClr val="191919"/>
                </a:solidFill>
                <a:latin typeface="Aptos"/>
              </a:rPr>
              <a:t>• ER Diagram   • Database Schema   • SQL Queries
• Query Outputs   • Database Screenshots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521208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1000097144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362456"/>
            <a:ext cx="5138928" cy="1696938"/>
          </a:xfrm>
          <a:prstGeom prst="rect">
            <a:avLst/>
          </a:prstGeom>
        </p:spPr>
      </p:pic>
      <p:pic>
        <p:nvPicPr>
          <p:cNvPr id="18" name="Picture 17" descr="1000097145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3209544"/>
            <a:ext cx="5138928" cy="1508760"/>
          </a:xfrm>
          <a:prstGeom prst="rect">
            <a:avLst/>
          </a:prstGeom>
        </p:spPr>
      </p:pic>
      <p:pic>
        <p:nvPicPr>
          <p:cNvPr id="20" name="Picture 19" descr="1000097146_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034" y="4832604"/>
            <a:ext cx="5138928" cy="1798932"/>
          </a:xfrm>
          <a:prstGeom prst="rect">
            <a:avLst/>
          </a:prstGeom>
        </p:spPr>
      </p:pic>
      <p:pic>
        <p:nvPicPr>
          <p:cNvPr id="21" name="Image 0" descr="/home/claude/assets/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55875"/>
            <a:ext cx="23134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32720" cy="10972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0" b="1">
                <a:solidFill>
                  <a:srgbClr val="191919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429000"/>
            <a:ext cx="82296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505050"/>
                </a:solidFill>
                <a:latin typeface="Aptos"/>
              </a:rPr>
              <a:t>Online Shopping Management System</a:t>
            </a:r>
          </a:p>
        </p:txBody>
      </p:sp>
      <p:pic>
        <p:nvPicPr>
          <p:cNvPr id="4" name="Image 0" descr="/home/claude/asset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2608"/>
            <a:ext cx="2313432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661</Words>
  <Application>Microsoft Office PowerPoint</Application>
  <PresentationFormat>Widescreen</PresentationFormat>
  <Paragraphs>138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SRIRAM KALANGI</cp:lastModifiedBy>
  <cp:revision>3</cp:revision>
  <dcterms:modified xsi:type="dcterms:W3CDTF">2026-09-25T15:49:53Z</dcterms:modified>
</cp:coreProperties>
</file>